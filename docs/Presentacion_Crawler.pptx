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32FF61-E1D8-41B8-B6B9-0AF4117FE359}">
  <a:tblStyle styleId="{0F32FF61-E1D8-41B8-B6B9-0AF4117FE3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C7293">
              <a:alpha val="50196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78" y="1188725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B400"/>
                </a:solidFill>
                <a:latin typeface="Calibri"/>
                <a:ea typeface="Calibri"/>
                <a:cs typeface="Calibri"/>
                <a:sym typeface="Calibri"/>
              </a:rPr>
              <a:t>PROYECTO FINAL  ·  SISTEMAS CONCURRENTES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164592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Crawler Web Concurrente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75" y="2697471"/>
            <a:ext cx="78639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8D5E5"/>
              </a:buClr>
              <a:buSzPts val="1600"/>
              <a:buFont typeface="Calibri"/>
              <a:buChar char="-"/>
            </a:pPr>
            <a:r>
              <a:rPr i="1" lang="en-US" sz="1600">
                <a:solidFill>
                  <a:srgbClr val="C8D5E5"/>
                </a:solidFill>
                <a:latin typeface="Calibri"/>
                <a:ea typeface="Calibri"/>
                <a:cs typeface="Calibri"/>
                <a:sym typeface="Calibri"/>
              </a:rPr>
              <a:t>Jorge Yahir Valenzuela López</a:t>
            </a:r>
            <a:endParaRPr i="1" sz="1600">
              <a:solidFill>
                <a:srgbClr val="C8D5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8D5E5"/>
              </a:buClr>
              <a:buSzPts val="1600"/>
              <a:buFont typeface="Calibri"/>
              <a:buChar char="-"/>
            </a:pPr>
            <a:r>
              <a:rPr i="1" lang="en-US" sz="1600">
                <a:solidFill>
                  <a:srgbClr val="C8D5E5"/>
                </a:solidFill>
                <a:latin typeface="Calibri"/>
                <a:ea typeface="Calibri"/>
                <a:cs typeface="Calibri"/>
                <a:sym typeface="Calibri"/>
              </a:rPr>
              <a:t>Alan Imanol Corona Salinas (218413809)</a:t>
            </a:r>
            <a:endParaRPr i="1" sz="1600">
              <a:solidFill>
                <a:srgbClr val="C8D5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8D5E5"/>
              </a:buClr>
              <a:buSzPts val="1600"/>
              <a:buFont typeface="Calibri"/>
              <a:buChar char="-"/>
            </a:pPr>
            <a:r>
              <a:rPr i="1" lang="en-US" sz="1600">
                <a:solidFill>
                  <a:srgbClr val="C8D5E5"/>
                </a:solidFill>
                <a:latin typeface="Calibri"/>
                <a:ea typeface="Calibri"/>
                <a:cs typeface="Calibri"/>
                <a:sym typeface="Calibri"/>
              </a:rPr>
              <a:t>Leonardo Navarro Real</a:t>
            </a:r>
            <a:endParaRPr i="1" sz="1600">
              <a:solidFill>
                <a:srgbClr val="C8D5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3749040"/>
            <a:ext cx="1143000" cy="365760"/>
          </a:xfrm>
          <a:prstGeom prst="roundRect">
            <a:avLst>
              <a:gd fmla="val 20000" name="adj"/>
            </a:avLst>
          </a:prstGeom>
          <a:solidFill>
            <a:srgbClr val="FFFFFF">
              <a:alpha val="1490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40080" y="374904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20240" y="3749040"/>
            <a:ext cx="1143000" cy="365760"/>
          </a:xfrm>
          <a:prstGeom prst="roundRect">
            <a:avLst>
              <a:gd fmla="val 20000" name="adj"/>
            </a:avLst>
          </a:prstGeom>
          <a:solidFill>
            <a:srgbClr val="FFFFFF">
              <a:alpha val="1490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920240" y="374904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Threading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200400" y="3749040"/>
            <a:ext cx="1143000" cy="365760"/>
          </a:xfrm>
          <a:prstGeom prst="roundRect">
            <a:avLst>
              <a:gd fmla="val 20000" name="adj"/>
            </a:avLst>
          </a:prstGeom>
          <a:solidFill>
            <a:srgbClr val="FFFFFF">
              <a:alpha val="1490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200400" y="374904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480560" y="3749040"/>
            <a:ext cx="1143000" cy="365760"/>
          </a:xfrm>
          <a:prstGeom prst="roundRect">
            <a:avLst>
              <a:gd fmla="val 20000" name="adj"/>
            </a:avLst>
          </a:prstGeom>
          <a:solidFill>
            <a:srgbClr val="FFFFFF">
              <a:alpha val="1490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480560" y="374904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4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4BC"/>
                </a:solidFill>
                <a:latin typeface="Calibri"/>
                <a:ea typeface="Calibri"/>
                <a:cs typeface="Calibri"/>
                <a:sym typeface="Calibri"/>
              </a:rPr>
              <a:t>Equipo · Mayo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5850" y="731525"/>
            <a:ext cx="673350" cy="91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3150" y="786703"/>
            <a:ext cx="673350" cy="952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 ·  INTRODUCCIÓN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2238"/>
                </a:solidFill>
                <a:latin typeface="Georgia"/>
                <a:ea typeface="Georgia"/>
                <a:cs typeface="Georgia"/>
                <a:sym typeface="Georgia"/>
              </a:rPr>
              <a:t>El problema: la web no espera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1463047"/>
            <a:ext cx="45720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Un crawler debe descargar muchas páginas, parsear su contenido y descubrir nuevos enlaces. El cuello de botella no es la CPU, sino la red: cada request bloquea esperando respuesta.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3108951"/>
            <a:ext cx="45720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Pregunta de diseño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¿Cómo aprovechar el tiempo de espera (I/O) para visitar más páginas en menos tiempo, sin saturar al servidor ni corromper estructuras compartidas?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0" y="1417320"/>
            <a:ext cx="3200400" cy="91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486400" y="1417320"/>
            <a:ext cx="73152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715000" y="149047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0.5 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715000" y="192024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latencia simulada por página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0" y="2496312"/>
            <a:ext cx="3200400" cy="91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486400" y="2496312"/>
            <a:ext cx="73152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715000" y="256946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715000" y="299923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páginas objetivo del benchmark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486400" y="3575304"/>
            <a:ext cx="3200400" cy="91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486400" y="3575304"/>
            <a:ext cx="73152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715000" y="3648456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I/O-bound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715000" y="407822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naturaleza de la tarea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2/11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02  ·  ARQUITECTURA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2238"/>
                </a:solidFill>
                <a:latin typeface="Georgia"/>
                <a:ea typeface="Georgia"/>
                <a:cs typeface="Georgia"/>
                <a:sym typeface="Georgia"/>
              </a:rPr>
              <a:t>Patrón productor/consumidor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1554480"/>
            <a:ext cx="1463040" cy="822960"/>
          </a:xfrm>
          <a:prstGeom prst="roundRect">
            <a:avLst>
              <a:gd fmla="val 8889" name="adj"/>
            </a:avLst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57200" y="15544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 URL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5"/>
          <p:cNvCxnSpPr/>
          <p:nvPr/>
        </p:nvCxnSpPr>
        <p:spPr>
          <a:xfrm>
            <a:off x="1965960" y="196596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5"/>
          <p:cNvSpPr/>
          <p:nvPr/>
        </p:nvSpPr>
        <p:spPr>
          <a:xfrm>
            <a:off x="2514600" y="1417320"/>
            <a:ext cx="1737360" cy="1097280"/>
          </a:xfrm>
          <a:prstGeom prst="roundRect">
            <a:avLst>
              <a:gd fmla="val 6667" name="adj"/>
            </a:avLst>
          </a:prstGeom>
          <a:solidFill>
            <a:srgbClr val="E8F1F8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2514600" y="14630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queue.Queue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633472" y="1874520"/>
            <a:ext cx="32004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999232" y="1874520"/>
            <a:ext cx="32004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364992" y="1874520"/>
            <a:ext cx="32004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3730752" y="1874520"/>
            <a:ext cx="32004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514600" y="233172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URLs pendientes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5"/>
          <p:cNvCxnSpPr/>
          <p:nvPr/>
        </p:nvCxnSpPr>
        <p:spPr>
          <a:xfrm flipH="1" rot="10800000">
            <a:off x="4297680" y="1348740"/>
            <a:ext cx="731520" cy="617220"/>
          </a:xfrm>
          <a:prstGeom prst="straightConnector1">
            <a:avLst/>
          </a:prstGeom>
          <a:noFill/>
          <a:ln cap="flat" cmpd="sng" w="15225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" name="Google Shape;72;p5"/>
          <p:cNvCxnSpPr/>
          <p:nvPr/>
        </p:nvCxnSpPr>
        <p:spPr>
          <a:xfrm flipH="1" rot="10800000">
            <a:off x="4297680" y="1943100"/>
            <a:ext cx="731520" cy="22860"/>
          </a:xfrm>
          <a:prstGeom prst="straightConnector1">
            <a:avLst/>
          </a:prstGeom>
          <a:noFill/>
          <a:ln cap="flat" cmpd="sng" w="15225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" name="Google Shape;73;p5"/>
          <p:cNvCxnSpPr/>
          <p:nvPr/>
        </p:nvCxnSpPr>
        <p:spPr>
          <a:xfrm>
            <a:off x="4297680" y="1965960"/>
            <a:ext cx="731520" cy="571500"/>
          </a:xfrm>
          <a:prstGeom prst="straightConnector1">
            <a:avLst/>
          </a:prstGeom>
          <a:noFill/>
          <a:ln cap="flat" cmpd="sng" w="15225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" name="Google Shape;74;p5"/>
          <p:cNvCxnSpPr/>
          <p:nvPr/>
        </p:nvCxnSpPr>
        <p:spPr>
          <a:xfrm>
            <a:off x="4297680" y="1965960"/>
            <a:ext cx="731520" cy="1165860"/>
          </a:xfrm>
          <a:prstGeom prst="straightConnector1">
            <a:avLst/>
          </a:prstGeom>
          <a:noFill/>
          <a:ln cap="flat" cmpd="sng" w="15225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5"/>
          <p:cNvSpPr/>
          <p:nvPr/>
        </p:nvSpPr>
        <p:spPr>
          <a:xfrm>
            <a:off x="5120640" y="1097280"/>
            <a:ext cx="1645920" cy="502920"/>
          </a:xfrm>
          <a:prstGeom prst="roundRect">
            <a:avLst>
              <a:gd fmla="val 10909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120640" y="10972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Hilo-1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120640" y="1691640"/>
            <a:ext cx="1645920" cy="502920"/>
          </a:xfrm>
          <a:prstGeom prst="roundRect">
            <a:avLst>
              <a:gd fmla="val 10909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120640" y="16916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Hilo-2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120640" y="2286000"/>
            <a:ext cx="1645920" cy="502920"/>
          </a:xfrm>
          <a:prstGeom prst="roundRect">
            <a:avLst>
              <a:gd fmla="val 10909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120640" y="22860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Hilo-3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120640" y="2880360"/>
            <a:ext cx="1645920" cy="502920"/>
          </a:xfrm>
          <a:prstGeom prst="roundRect">
            <a:avLst>
              <a:gd fmla="val 10909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120640" y="28803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Hilo-4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5"/>
          <p:cNvCxnSpPr/>
          <p:nvPr/>
        </p:nvCxnSpPr>
        <p:spPr>
          <a:xfrm>
            <a:off x="6812280" y="1348740"/>
            <a:ext cx="640080" cy="845820"/>
          </a:xfrm>
          <a:prstGeom prst="straightConnector1">
            <a:avLst/>
          </a:prstGeom>
          <a:noFill/>
          <a:ln cap="flat" cmpd="sng" w="15225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" name="Google Shape;84;p5"/>
          <p:cNvCxnSpPr/>
          <p:nvPr/>
        </p:nvCxnSpPr>
        <p:spPr>
          <a:xfrm>
            <a:off x="6812280" y="1943100"/>
            <a:ext cx="640080" cy="251460"/>
          </a:xfrm>
          <a:prstGeom prst="straightConnector1">
            <a:avLst/>
          </a:prstGeom>
          <a:noFill/>
          <a:ln cap="flat" cmpd="sng" w="15225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" name="Google Shape;85;p5"/>
          <p:cNvCxnSpPr/>
          <p:nvPr/>
        </p:nvCxnSpPr>
        <p:spPr>
          <a:xfrm flipH="1" rot="10800000">
            <a:off x="6812280" y="2194560"/>
            <a:ext cx="640080" cy="342900"/>
          </a:xfrm>
          <a:prstGeom prst="straightConnector1">
            <a:avLst/>
          </a:prstGeom>
          <a:noFill/>
          <a:ln cap="flat" cmpd="sng" w="15225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" name="Google Shape;86;p5"/>
          <p:cNvCxnSpPr/>
          <p:nvPr/>
        </p:nvCxnSpPr>
        <p:spPr>
          <a:xfrm flipH="1" rot="10800000">
            <a:off x="6812280" y="2194560"/>
            <a:ext cx="640080" cy="937260"/>
          </a:xfrm>
          <a:prstGeom prst="straightConnector1">
            <a:avLst/>
          </a:prstGeom>
          <a:noFill/>
          <a:ln cap="flat" cmpd="sng" w="15225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" name="Google Shape;87;p5"/>
          <p:cNvSpPr/>
          <p:nvPr/>
        </p:nvSpPr>
        <p:spPr>
          <a:xfrm>
            <a:off x="7452360" y="1892808"/>
            <a:ext cx="1234440" cy="594360"/>
          </a:xfrm>
          <a:prstGeom prst="roundRect">
            <a:avLst>
              <a:gd fmla="val 12308" name="adj"/>
            </a:avLst>
          </a:prstGeom>
          <a:solidFill>
            <a:srgbClr val="2BB673"/>
          </a:solidFill>
          <a:ln cap="flat" cmpd="sng" w="127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452360" y="1892808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results[]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8069580" y="2487168"/>
            <a:ext cx="0" cy="1033272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0" name="Google Shape;90;p5"/>
          <p:cNvCxnSpPr/>
          <p:nvPr/>
        </p:nvCxnSpPr>
        <p:spPr>
          <a:xfrm>
            <a:off x="3383280" y="3520440"/>
            <a:ext cx="4686300" cy="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" name="Google Shape;91;p5"/>
          <p:cNvCxnSpPr/>
          <p:nvPr/>
        </p:nvCxnSpPr>
        <p:spPr>
          <a:xfrm>
            <a:off x="3383280" y="2514600"/>
            <a:ext cx="0" cy="100584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92" name="Google Shape;92;p5"/>
          <p:cNvSpPr/>
          <p:nvPr/>
        </p:nvSpPr>
        <p:spPr>
          <a:xfrm>
            <a:off x="4754880" y="352958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F4B400"/>
                </a:solidFill>
                <a:latin typeface="Calibri"/>
                <a:ea typeface="Calibri"/>
                <a:cs typeface="Calibri"/>
                <a:sym typeface="Calibri"/>
              </a:rPr>
              <a:t>links descubiertos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3703320"/>
            <a:ext cx="2651760" cy="91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57200" y="3703320"/>
            <a:ext cx="54864" cy="9144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21792" y="3794760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Cola sincronizada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21792" y="4114800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queue.Queue maneja put/get atómicos y join() para terminación.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246120" y="3703320"/>
            <a:ext cx="2651760" cy="91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246120" y="3703320"/>
            <a:ext cx="54864" cy="9144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3410712" y="3794760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Locks de exclusión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410712" y="4114800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visited_lock y results_lock protegen las estructuras compartidas.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035040" y="3703320"/>
            <a:ext cx="2651760" cy="91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035040" y="3703320"/>
            <a:ext cx="54864" cy="9144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199632" y="3794760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Centinelas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199632" y="4114800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Señales None-equivalent para apagar trabajadores de forma ordenada.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3/11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  ·  TÉCNICAS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2238"/>
                </a:solidFill>
                <a:latin typeface="Georgia"/>
                <a:ea typeface="Georgia"/>
                <a:cs typeface="Georgia"/>
                <a:sym typeface="Georgia"/>
              </a:rPr>
              <a:t>Primitivas de concurrencia aplicadas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200" y="141732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40080" y="1554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Threading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40080" y="189280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Pool de N hilos creados con threading.Thread, ideal para tareas I/O-bound bajo el GIL.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40080" y="24688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threading.Thread(target=worker)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246120" y="141732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246120" y="1417320"/>
            <a:ext cx="2651760" cy="54864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3429000" y="1554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Cola thread-safe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429000" y="189280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queue.Queue para repartir URLs entre hilos sin condiciones de carrera.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429000" y="24688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task_queue.put(url) / get()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035040" y="141732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035040" y="1417320"/>
            <a:ext cx="2651760" cy="54864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217920" y="1554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Locks (Mutex)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217920" y="189280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Dos locks separados: uno para visited (set), otro para results (list).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217920" y="24688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with visited_lock: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292608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40080" y="3063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Sincronización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40080" y="340156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task_queue.join() bloquea hasta que cada tarea recibe su task_done().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40080" y="39776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task_queue.join()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246120" y="292608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246120" y="2926080"/>
            <a:ext cx="2651760" cy="54864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429000" y="3063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Centinelas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429000" y="340156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Tras join, se inyectan objetos centinela para que los workers salgan de su loop.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429000" y="39776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task_queue.put(CENTINELA)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035040" y="292608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035040" y="2926080"/>
            <a:ext cx="2651760" cy="54864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217920" y="3063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Idempotencia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217920" y="340156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Doble check de 'visited' bajo lock para evitar trabajo duplicado.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217920" y="39776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if url in visited: continue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4/11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04  ·  DIAGRAMA DE HILOS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2238"/>
                </a:solidFill>
                <a:latin typeface="Georgia"/>
                <a:ea typeface="Georgia"/>
                <a:cs typeface="Georgia"/>
                <a:sym typeface="Georgia"/>
              </a:rPr>
              <a:t>Ciclo de vida del worker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64692" y="1325880"/>
            <a:ext cx="402336" cy="402336"/>
          </a:xfrm>
          <a:prstGeom prst="ellipse">
            <a:avLst/>
          </a:prstGeom>
          <a:solidFill>
            <a:srgbClr val="F4B40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964692" y="13258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11480" y="1554480"/>
            <a:ext cx="1508760" cy="1280160"/>
          </a:xfrm>
          <a:prstGeom prst="roundRect">
            <a:avLst>
              <a:gd fmla="val 4286" name="adj"/>
            </a:avLst>
          </a:prstGeom>
          <a:solidFill>
            <a:srgbClr val="F7FAFC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02920" y="182880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get()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02920" y="21488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Toma una URL de la cola (bloqueante)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1920240" y="2194560"/>
            <a:ext cx="192024" cy="0"/>
          </a:xfrm>
          <a:prstGeom prst="straightConnector1">
            <a:avLst/>
          </a:prstGeom>
          <a:noFill/>
          <a:ln cap="flat" cmpd="sng" w="19050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7"/>
          <p:cNvSpPr/>
          <p:nvPr/>
        </p:nvSpPr>
        <p:spPr>
          <a:xfrm>
            <a:off x="2665476" y="1325880"/>
            <a:ext cx="402336" cy="402336"/>
          </a:xfrm>
          <a:prstGeom prst="ellipse">
            <a:avLst/>
          </a:prstGeom>
          <a:solidFill>
            <a:srgbClr val="F4B40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2665476" y="13258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112264" y="1554480"/>
            <a:ext cx="1508760" cy="1280160"/>
          </a:xfrm>
          <a:prstGeom prst="roundRect">
            <a:avLst>
              <a:gd fmla="val 4286" name="adj"/>
            </a:avLst>
          </a:prstGeom>
          <a:solidFill>
            <a:srgbClr val="F7FAFC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2203704" y="182880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check visited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203704" y="21488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Bajo lock: ¿ya fue procesada o se alcanzó max_pages?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3621024" y="2194560"/>
            <a:ext cx="192024" cy="0"/>
          </a:xfrm>
          <a:prstGeom prst="straightConnector1">
            <a:avLst/>
          </a:prstGeom>
          <a:noFill/>
          <a:ln cap="flat" cmpd="sng" w="19050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7"/>
          <p:cNvSpPr/>
          <p:nvPr/>
        </p:nvSpPr>
        <p:spPr>
          <a:xfrm>
            <a:off x="4366260" y="1325880"/>
            <a:ext cx="402336" cy="402336"/>
          </a:xfrm>
          <a:prstGeom prst="ellipse">
            <a:avLst/>
          </a:prstGeom>
          <a:solidFill>
            <a:srgbClr val="F4B40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366260" y="13258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813048" y="1554480"/>
            <a:ext cx="1508760" cy="1280160"/>
          </a:xfrm>
          <a:prstGeom prst="roundRect">
            <a:avLst>
              <a:gd fmla="val 4286" name="adj"/>
            </a:avLst>
          </a:prstGeom>
          <a:solidFill>
            <a:srgbClr val="F7FAFC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3904488" y="182880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fetch + parse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904488" y="21488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HTTP GET + BeautifulSoup (fuera del lock — paralelo real)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5321808" y="2194560"/>
            <a:ext cx="192024" cy="0"/>
          </a:xfrm>
          <a:prstGeom prst="straightConnector1">
            <a:avLst/>
          </a:prstGeom>
          <a:noFill/>
          <a:ln cap="flat" cmpd="sng" w="19050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p7"/>
          <p:cNvSpPr/>
          <p:nvPr/>
        </p:nvSpPr>
        <p:spPr>
          <a:xfrm>
            <a:off x="6067044" y="1325880"/>
            <a:ext cx="402336" cy="402336"/>
          </a:xfrm>
          <a:prstGeom prst="ellipse">
            <a:avLst/>
          </a:prstGeom>
          <a:solidFill>
            <a:srgbClr val="F4B40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067044" y="13258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513832" y="1554480"/>
            <a:ext cx="1508760" cy="1280160"/>
          </a:xfrm>
          <a:prstGeom prst="roundRect">
            <a:avLst>
              <a:gd fmla="val 4286" name="adj"/>
            </a:avLst>
          </a:prstGeom>
          <a:solidFill>
            <a:srgbClr val="F7FAFC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605272" y="182880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store + enqueue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605272" y="21488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results.append + nuevas URLs a la cola (bajo locks)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7"/>
          <p:cNvCxnSpPr/>
          <p:nvPr/>
        </p:nvCxnSpPr>
        <p:spPr>
          <a:xfrm>
            <a:off x="7022592" y="2194560"/>
            <a:ext cx="192024" cy="0"/>
          </a:xfrm>
          <a:prstGeom prst="straightConnector1">
            <a:avLst/>
          </a:prstGeom>
          <a:noFill/>
          <a:ln cap="flat" cmpd="sng" w="19050">
            <a:solidFill>
              <a:srgbClr val="5B6B8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" name="Google Shape;175;p7"/>
          <p:cNvSpPr/>
          <p:nvPr/>
        </p:nvSpPr>
        <p:spPr>
          <a:xfrm>
            <a:off x="7767828" y="1325880"/>
            <a:ext cx="402336" cy="402336"/>
          </a:xfrm>
          <a:prstGeom prst="ellipse">
            <a:avLst/>
          </a:prstGeom>
          <a:solidFill>
            <a:srgbClr val="F4B40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767828" y="13258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214616" y="1554480"/>
            <a:ext cx="1508760" cy="1280160"/>
          </a:xfrm>
          <a:prstGeom prst="roundRect">
            <a:avLst>
              <a:gd fmla="val 4286" name="adj"/>
            </a:avLst>
          </a:prstGeom>
          <a:solidFill>
            <a:srgbClr val="F7FAFC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306056" y="182880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task_done()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306056" y="21488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Marca la unidad de trabajo como completada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7"/>
          <p:cNvCxnSpPr/>
          <p:nvPr/>
        </p:nvCxnSpPr>
        <p:spPr>
          <a:xfrm>
            <a:off x="7968996" y="283464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1" name="Google Shape;181;p7"/>
          <p:cNvCxnSpPr/>
          <p:nvPr/>
        </p:nvCxnSpPr>
        <p:spPr>
          <a:xfrm>
            <a:off x="1165860" y="3291840"/>
            <a:ext cx="6803136" cy="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2" name="Google Shape;182;p7"/>
          <p:cNvCxnSpPr/>
          <p:nvPr/>
        </p:nvCxnSpPr>
        <p:spPr>
          <a:xfrm>
            <a:off x="1165860" y="283464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183" name="Google Shape;183;p7"/>
          <p:cNvSpPr/>
          <p:nvPr/>
        </p:nvSpPr>
        <p:spPr>
          <a:xfrm>
            <a:off x="1783080" y="33375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F4B400"/>
                </a:solidFill>
                <a:latin typeface="Calibri"/>
                <a:ea typeface="Calibri"/>
                <a:cs typeface="Calibri"/>
                <a:sym typeface="Calibri"/>
              </a:rPr>
              <a:t>loop  hasta  centinela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B400"/>
                </a:solidFill>
                <a:latin typeface="Calibri"/>
                <a:ea typeface="Calibri"/>
                <a:cs typeface="Calibri"/>
                <a:sym typeface="Calibri"/>
              </a:rPr>
              <a:t>Sección crítica: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el acceso a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results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 serializa con locks; el fetch (lo costoso) sucede </a:t>
            </a: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fuera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la región protegida.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5/11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05  ·  RESULTADOS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2238"/>
                </a:solidFill>
                <a:latin typeface="Georgia"/>
                <a:ea typeface="Georgia"/>
                <a:cs typeface="Georgia"/>
                <a:sym typeface="Georgia"/>
              </a:rPr>
              <a:t>Tiempo total por configuración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FFF7DB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594360" y="137160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6D00"/>
                </a:solidFill>
                <a:latin typeface="Calibri"/>
                <a:ea typeface="Calibri"/>
                <a:cs typeface="Calibri"/>
                <a:sym typeface="Calibri"/>
              </a:rPr>
              <a:t>Resultados medidos (50 páginas, 0.5 s de latencia simulada por request).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74520"/>
            <a:ext cx="512064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5760720" y="1874520"/>
            <a:ext cx="2926080" cy="2743200"/>
          </a:xfrm>
          <a:prstGeom prst="roundRect">
            <a:avLst>
              <a:gd fmla="val 2667" name="adj"/>
            </a:avLst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989320" y="21031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B400"/>
                </a:solidFill>
                <a:latin typeface="Calibri"/>
                <a:ea typeface="Calibri"/>
                <a:cs typeface="Calibri"/>
                <a:sym typeface="Calibri"/>
              </a:rPr>
              <a:t>SPEEDUP CON 8 HILOS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852160" y="246888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5.52×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989320" y="37490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5E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D5E5"/>
                </a:solidFill>
                <a:latin typeface="Calibri"/>
                <a:ea typeface="Calibri"/>
                <a:cs typeface="Calibri"/>
                <a:sym typeface="Calibri"/>
              </a:rPr>
              <a:t>vs. versión secuencial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8"/>
          <p:cNvCxnSpPr/>
          <p:nvPr/>
        </p:nvCxnSpPr>
        <p:spPr>
          <a:xfrm>
            <a:off x="6309360" y="4114800"/>
            <a:ext cx="182880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8"/>
          <p:cNvSpPr/>
          <p:nvPr/>
        </p:nvSpPr>
        <p:spPr>
          <a:xfrm>
            <a:off x="5989320" y="4206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Teórico: 8×   ·   Eficiencia: ~69%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6/11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06  ·  MÉTRICAS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2238"/>
                </a:solidFill>
                <a:latin typeface="Georgia"/>
                <a:ea typeface="Georgia"/>
                <a:cs typeface="Georgia"/>
                <a:sym typeface="Georgia"/>
              </a:rPr>
              <a:t>Desglose por número de hilos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Resultados medidos en el equipo de pruebas — 50 páginas, 0.5 s de latencia por request.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9"/>
          <p:cNvGraphicFramePr/>
          <p:nvPr/>
        </p:nvGraphicFramePr>
        <p:xfrm>
          <a:off x="45720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{0F32FF61-E1D8-41B8-B6B9-0AF4117FE359}</a:tableStyleId>
              </a:tblPr>
              <a:tblGrid>
                <a:gridCol w="2011675"/>
                <a:gridCol w="1463050"/>
                <a:gridCol w="1463050"/>
                <a:gridCol w="1645925"/>
                <a:gridCol w="16459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 (s)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Speedup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Eficiencia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Páginas/s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Secuencial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52.42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1.00×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Paralela · 1 hilo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51.48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1.02×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Paralela · 2 hilos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28.44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1.84×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Paralela · 4 hilos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14.88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3.52×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Paralela · 8 hilos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9.49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5.52×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5.27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9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57200" y="4251960"/>
            <a:ext cx="73152" cy="548640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640080" y="42519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Observación: </a:t>
            </a:r>
            <a:r>
              <a:rPr b="0" i="0" lang="en-US" sz="11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con 1 hilo el tiempo es casi idéntico al secuencial (sin paralelismo real); la mejora aparece a partir de 2 hilos y se atenúa por contención de locks y límite de conexiones HTTP.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7/11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07  ·  ANÁLISIS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2238"/>
                </a:solidFill>
                <a:latin typeface="Georgia"/>
                <a:ea typeface="Georgia"/>
                <a:cs typeface="Georgia"/>
                <a:sym typeface="Georgia"/>
              </a:rPr>
              <a:t>¿Por qué funciona aquí?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Secuencial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57200" y="1783080"/>
            <a:ext cx="3931920" cy="457200"/>
          </a:xfrm>
          <a:prstGeom prst="rect">
            <a:avLst/>
          </a:prstGeom>
          <a:solidFill>
            <a:srgbClr val="D8E2EE"/>
          </a:solidFill>
          <a:ln cap="flat" cmpd="sng" w="12700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457200" y="1783080"/>
            <a:ext cx="3383280" cy="457200"/>
          </a:xfrm>
          <a:prstGeom prst="rect">
            <a:avLst/>
          </a:prstGeom>
          <a:solidFill>
            <a:srgbClr val="5B6B82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57200" y="17830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 14%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097280" y="1783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Espera de red 86%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Tiempo desperdiciado bloqueando en cada GET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Concurrente (8 hilos)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754880" y="1783080"/>
            <a:ext cx="3931920" cy="457200"/>
          </a:xfrm>
          <a:prstGeom prst="rect">
            <a:avLst/>
          </a:prstGeom>
          <a:solidFill>
            <a:srgbClr val="D8E2EE"/>
          </a:solidFill>
          <a:ln cap="flat" cmpd="sng" w="12700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754880" y="1783080"/>
            <a:ext cx="3383280" cy="457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846320" y="1783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Trabajo útil solapado 86%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754880" y="2331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Mientras un hilo espera, otros descargan/parsean en paralelo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7200" y="2926080"/>
            <a:ext cx="2651760" cy="169164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57200" y="2926080"/>
            <a:ext cx="54864" cy="16916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40080" y="309067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GIL no estorba aquí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40080" y="347472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I/O libera el GIL → los hilos sí progresan en paralelo.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246120" y="2926080"/>
            <a:ext cx="2651760" cy="169164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3246120" y="2926080"/>
            <a:ext cx="54864" cy="16916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3429000" y="309067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Locks finos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429000" y="347472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Solo se protege el estado compartido; el HTTP queda fuera de la sección crítica.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035040" y="2926080"/>
            <a:ext cx="2651760" cy="169164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6035040" y="2926080"/>
            <a:ext cx="54864" cy="16916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6217920" y="309067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Cola desacopla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217920" y="347472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Los hilos consumen al ritmo que pueden; no hay coordinación punto a punto.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8/11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08  ·  DEMOSTRACIÓN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2238"/>
                </a:solidFill>
                <a:latin typeface="Georgia"/>
                <a:ea typeface="Georgia"/>
                <a:cs typeface="Georgia"/>
                <a:sym typeface="Georgia"/>
              </a:rPr>
              <a:t>Qué verás en vivo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Pasos de la demo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1.  Configurar .env  (SEED_URL, MAX_PAGES, NUM_THREADS)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2.  Ejecutar  python benchmark.py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3.  Observar la versión concurrente: logs por hilo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4.  Esperar la versión secuencial (misma carga)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5.  Leer la tabla comparativa 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Qué observar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754880" y="1856232"/>
            <a:ext cx="201168" cy="201168"/>
          </a:xfrm>
          <a:prstGeom prst="ellipse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5029200" y="17830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Intercalado.  </a:t>
            </a:r>
            <a:r>
              <a:rPr b="0" i="0" lang="en-US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Los hilos Hilo-1…Hilo-8 alternan en el log → trabajo solapado.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754880" y="2423160"/>
            <a:ext cx="201168" cy="201168"/>
          </a:xfrm>
          <a:prstGeom prst="ellipse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5029200" y="235000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Tiempo total.  </a:t>
            </a:r>
            <a:r>
              <a:rPr b="0" i="0" lang="en-US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Diferencia clara entre ambas corridas (~5.5× menor).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754880" y="2990088"/>
            <a:ext cx="201168" cy="201168"/>
          </a:xfrm>
          <a:prstGeom prst="ellipse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5029200" y="2916936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Sin duplicados.  </a:t>
            </a:r>
            <a:r>
              <a:rPr b="0" i="0" lang="en-US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Cada URL aparece una sola vez → locks funcionando.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754880" y="3557016"/>
            <a:ext cx="201168" cy="201168"/>
          </a:xfrm>
          <a:prstGeom prst="ellipse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5029200" y="3483864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Cierre limpio.  </a:t>
            </a:r>
            <a:r>
              <a:rPr b="0" i="0" lang="en-US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Centinelas hacen que los hilos terminen sin bloqueos.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4B400"/>
                </a:solidFill>
                <a:latin typeface="Consolas"/>
                <a:ea typeface="Consolas"/>
                <a:cs typeface="Consolas"/>
                <a:sym typeface="Consolas"/>
              </a:rPr>
              <a:t>$ python benchmark.py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9/11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09  ·  CONCLUSIONES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2238"/>
                </a:solidFill>
                <a:latin typeface="Georgia"/>
                <a:ea typeface="Georgia"/>
                <a:cs typeface="Georgia"/>
                <a:sym typeface="Georgia"/>
              </a:rPr>
              <a:t>Lo que aprendimos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640080" y="15544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1463040" y="16002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El paralelismo gana cuando hay espera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1463040" y="201168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Tareas I/O-bound aprovechan los hilos a pesar del GIL: el 'tiempo perdido' se convierte en trabajo útil.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4617720" y="1417320"/>
            <a:ext cx="402336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4800600" y="15544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5623560" y="16002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Sincronización mínima, pero deliberada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623560" y="201168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Locks cortos sobre el estado compartido y una cola thread-safe bastan para evitar condiciones de carrera.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640080" y="31546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463040" y="32004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Escalabilidad con techo claro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1463040" y="361188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El speedup no es lineal: red, contención y políticas del servidor imponen un límite práctico al número de hilos.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617720" y="3017520"/>
            <a:ext cx="402336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4800600" y="31546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623560" y="32004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Diseño extensible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623560" y="361188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El patrón productor/consumidor escala a asyncio, multiprocessing o sistemas distribuidos sin reescribir la lógica.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10/11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50196"/>
            </a:srgbClr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4B400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40080" y="233172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1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Gracias por su atención.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4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4BC"/>
                </a:solidFill>
                <a:latin typeface="Calibri"/>
                <a:ea typeface="Calibri"/>
                <a:cs typeface="Calibri"/>
                <a:sym typeface="Calibri"/>
              </a:rPr>
              <a:t>Crawler Web Concurrente  ·  Sistemas Concurrentes  ·  Mayo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